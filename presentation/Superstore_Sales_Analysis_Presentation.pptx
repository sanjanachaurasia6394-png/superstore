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26842" y="2657713"/>
            <a:ext cx="15740120" cy="196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Superstore Sales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50450" y="4852035"/>
            <a:ext cx="13955649" cy="121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Data Analysis &amp; Business Intelligence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36783" y="6861458"/>
            <a:ext cx="12582973" cy="105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Tools: Python • Pandas • Matplotlib • Power BI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0426"/>
            <a:ext cx="16289188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Project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6842" y="2047580"/>
            <a:ext cx="15602855" cy="710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Objective: analyze Superstore sales data to understand sales, profit, quantity, discounts, categories and regional performance.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Identify trends, high- and low-performing areas, relationships between variables, and potential business improvement opportunities.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Build an interactive Power BI dashboard to communicate the most important business metrics.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51704" y="9694488"/>
            <a:ext cx="118979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828282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0426"/>
            <a:ext cx="16289188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Dataset &amp; Tools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6842" y="2047580"/>
            <a:ext cx="15602855" cy="710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Dataset: Superstore retail transaction dataset.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Original dataset: 10,800 rows and 21 columns.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After preparation: 9,994 valid transaction rows and 25 columns.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Key fields: Order Date, Ship Mode, Segment, Region, Category, Sub-Category, Sales, Quantity, Discount and Profit.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Tools: Python/Pandas for preparation and EDA; Matplotlib for visualizations; Power BI for dashboarding.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51704" y="9694488"/>
            <a:ext cx="118979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828282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0426"/>
            <a:ext cx="16289188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Data Preparation &amp; Cleaning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6842" y="2047580"/>
            <a:ext cx="15602855" cy="710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Inspected column names, data types and missing values.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Removed 806 rows without Order Date because they did not represent valid transaction records.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Converted Order Date and Ship Date into proper datetime format.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Created Year, Month, Month Name and Quarter fields for time-based analysis.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11 Postal Code values remained missing; they were retained because Postal Code is a geographic identifier rather than a core analytical measure.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Saved the prepared dataset as superstore_cleaned.csv.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51704" y="9694488"/>
            <a:ext cx="118979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828282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0426"/>
            <a:ext cx="16289188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Exploratory Data Analysis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3719" y="1845955"/>
            <a:ext cx="3514611" cy="1730140"/>
            <a:chOff x="0" y="0"/>
            <a:chExt cx="4686148" cy="23068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86046" cy="2306828"/>
            </a:xfrm>
            <a:custGeom>
              <a:avLst/>
              <a:gdLst/>
              <a:ahLst/>
              <a:cxnLst/>
              <a:rect r="r" b="b" t="t" l="l"/>
              <a:pathLst>
                <a:path h="2306828" w="4686046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4301617" y="0"/>
                  </a:lnTo>
                  <a:cubicBezTo>
                    <a:pt x="4513961" y="0"/>
                    <a:pt x="4686046" y="172085"/>
                    <a:pt x="4686046" y="384429"/>
                  </a:cubicBezTo>
                  <a:lnTo>
                    <a:pt x="4686046" y="1922399"/>
                  </a:lnTo>
                  <a:cubicBezTo>
                    <a:pt x="4686046" y="2134743"/>
                    <a:pt x="4513961" y="2306828"/>
                    <a:pt x="4301617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2F5FA"/>
            </a:solidFill>
            <a:ln w="14299" cap="sq">
              <a:solidFill>
                <a:srgbClr val="4472C4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86148" cy="2354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Total Sales</a:t>
              </a:r>
            </a:p>
            <a:p>
              <a:pPr algn="ctr">
                <a:lnSpc>
                  <a:spcPts val="4323"/>
                </a:lnSpc>
              </a:pPr>
              <a:r>
                <a:rPr lang="en-US" sz="3602" b="true">
                  <a:solidFill>
                    <a:srgbClr val="2828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$2.30M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09003" y="1845955"/>
            <a:ext cx="3514611" cy="1730140"/>
            <a:chOff x="0" y="0"/>
            <a:chExt cx="4686148" cy="23068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86046" cy="2306828"/>
            </a:xfrm>
            <a:custGeom>
              <a:avLst/>
              <a:gdLst/>
              <a:ahLst/>
              <a:cxnLst/>
              <a:rect r="r" b="b" t="t" l="l"/>
              <a:pathLst>
                <a:path h="2306828" w="4686046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4301617" y="0"/>
                  </a:lnTo>
                  <a:cubicBezTo>
                    <a:pt x="4513961" y="0"/>
                    <a:pt x="4686046" y="172085"/>
                    <a:pt x="4686046" y="384429"/>
                  </a:cubicBezTo>
                  <a:lnTo>
                    <a:pt x="4686046" y="1922399"/>
                  </a:lnTo>
                  <a:cubicBezTo>
                    <a:pt x="4686046" y="2134743"/>
                    <a:pt x="4513961" y="2306828"/>
                    <a:pt x="4301617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2F5FA"/>
            </a:solidFill>
            <a:ln w="14299" cap="sq">
              <a:solidFill>
                <a:srgbClr val="4472C4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686148" cy="2354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Total Profit</a:t>
              </a:r>
            </a:p>
            <a:p>
              <a:pPr algn="ctr">
                <a:lnSpc>
                  <a:spcPts val="4323"/>
                </a:lnSpc>
              </a:pPr>
              <a:r>
                <a:rPr lang="en-US" sz="3602" b="true">
                  <a:solidFill>
                    <a:srgbClr val="2828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$286.40K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64288" y="1845955"/>
            <a:ext cx="3514611" cy="1730140"/>
            <a:chOff x="0" y="0"/>
            <a:chExt cx="4686148" cy="23068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86046" cy="2306828"/>
            </a:xfrm>
            <a:custGeom>
              <a:avLst/>
              <a:gdLst/>
              <a:ahLst/>
              <a:cxnLst/>
              <a:rect r="r" b="b" t="t" l="l"/>
              <a:pathLst>
                <a:path h="2306828" w="4686046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4301617" y="0"/>
                  </a:lnTo>
                  <a:cubicBezTo>
                    <a:pt x="4513961" y="0"/>
                    <a:pt x="4686046" y="172085"/>
                    <a:pt x="4686046" y="384429"/>
                  </a:cubicBezTo>
                  <a:lnTo>
                    <a:pt x="4686046" y="1922399"/>
                  </a:lnTo>
                  <a:cubicBezTo>
                    <a:pt x="4686046" y="2134743"/>
                    <a:pt x="4513961" y="2306828"/>
                    <a:pt x="4301617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2F5FA"/>
            </a:solidFill>
            <a:ln w="14299" cap="sq">
              <a:solidFill>
                <a:srgbClr val="4472C4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686148" cy="2354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Total Quantity</a:t>
              </a:r>
            </a:p>
            <a:p>
              <a:pPr algn="ctr">
                <a:lnSpc>
                  <a:spcPts val="4323"/>
                </a:lnSpc>
              </a:pPr>
              <a:r>
                <a:rPr lang="en-US" sz="3602" b="true">
                  <a:solidFill>
                    <a:srgbClr val="2828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37.9K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719572" y="1845955"/>
            <a:ext cx="3514611" cy="1730140"/>
            <a:chOff x="0" y="0"/>
            <a:chExt cx="4686148" cy="23068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86046" cy="2306828"/>
            </a:xfrm>
            <a:custGeom>
              <a:avLst/>
              <a:gdLst/>
              <a:ahLst/>
              <a:cxnLst/>
              <a:rect r="r" b="b" t="t" l="l"/>
              <a:pathLst>
                <a:path h="2306828" w="4686046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4301617" y="0"/>
                  </a:lnTo>
                  <a:cubicBezTo>
                    <a:pt x="4513961" y="0"/>
                    <a:pt x="4686046" y="172085"/>
                    <a:pt x="4686046" y="384429"/>
                  </a:cubicBezTo>
                  <a:lnTo>
                    <a:pt x="4686046" y="1922399"/>
                  </a:lnTo>
                  <a:cubicBezTo>
                    <a:pt x="4686046" y="2134743"/>
                    <a:pt x="4513961" y="2306828"/>
                    <a:pt x="4301617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2F5FA"/>
            </a:solidFill>
            <a:ln w="14299" cap="sq">
              <a:solidFill>
                <a:srgbClr val="4472C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686148" cy="2354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 Rows</a:t>
              </a:r>
            </a:p>
            <a:p>
              <a:pPr algn="ctr">
                <a:lnSpc>
                  <a:spcPts val="4323"/>
                </a:lnSpc>
              </a:pPr>
              <a:r>
                <a:rPr lang="en-US" sz="3602" b="true">
                  <a:solidFill>
                    <a:srgbClr val="2828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9,994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26842" y="4175217"/>
            <a:ext cx="15602855" cy="4495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Sales and Profit show substantial variation across transactions.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Sales and Profit have a moderate positive correlation (0.48).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Discount and Profit show a negative correlation (-0.22), indicating that high-discount transactions deserve attention.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Sales is strongly right-skewed; high-value transactions create legitimate outliers.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151704" y="9694488"/>
            <a:ext cx="118979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828282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0426"/>
            <a:ext cx="16289188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Category Performance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726" y="837330"/>
            <a:ext cx="12189331" cy="875765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690518" y="2135267"/>
            <a:ext cx="5513708" cy="612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Technology is the strongest category by both sales and profit.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Office Supplies has the highest sales volume by quantity.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Furniture generates substantial sales but much lower profit, making it a priority for margin review.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51704" y="9694488"/>
            <a:ext cx="118979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828282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0426"/>
            <a:ext cx="16289188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6. Regional Performance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726" y="837330"/>
            <a:ext cx="12189331" cy="875765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690518" y="1978943"/>
            <a:ext cx="5513708" cy="655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West is the strongest region for both sales and profit.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Central has lower profitability and the highest average discount (24%).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South records the lowest sales and quantity among the four regions.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Regional performance should be evaluated using profit as well as sales.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51704" y="9694488"/>
            <a:ext cx="118979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828282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0426"/>
            <a:ext cx="16289188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7. Sales &amp; Profit Trend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754970"/>
            <a:ext cx="13177655" cy="8922371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2445489" y="2135267"/>
            <a:ext cx="4758738" cy="598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2016 sales were slightly below 2015, while profit increased.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Sales and profit rose strongly from 2016 onward.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2018 achieved the highest sales and profit in the analyzed period.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The overall long-term trend is positive.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51704" y="9694488"/>
            <a:ext cx="118979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828282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0426"/>
            <a:ext cx="16289188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8. Power BI Dashboard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6842" y="1978943"/>
            <a:ext cx="15602855" cy="655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Interactive dashboard created in Power BI using the cleaned Superstore dataset.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KPI Cards: Total Sales, Total Profit and Total Quantity.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Visuals: Sales by Category, Profit by Region, Sales Trend by Year and Profit by Category.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Slicers: Year and Region.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The dashboard allows users to filter the business view and compare performance interactively.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26842" y="4358240"/>
            <a:ext cx="2073307" cy="1112434"/>
            <a:chOff x="0" y="0"/>
            <a:chExt cx="2764409" cy="14832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64409" cy="1483360"/>
            </a:xfrm>
            <a:custGeom>
              <a:avLst/>
              <a:gdLst/>
              <a:ahLst/>
              <a:cxnLst/>
              <a:rect r="r" b="b" t="t" l="l"/>
              <a:pathLst>
                <a:path h="1483360" w="2764409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2517140" y="0"/>
                  </a:lnTo>
                  <a:cubicBezTo>
                    <a:pt x="2653665" y="0"/>
                    <a:pt x="2764409" y="110744"/>
                    <a:pt x="2764409" y="247269"/>
                  </a:cubicBezTo>
                  <a:lnTo>
                    <a:pt x="2764409" y="1236091"/>
                  </a:lnTo>
                  <a:cubicBezTo>
                    <a:pt x="2764409" y="1372616"/>
                    <a:pt x="2653665" y="1483360"/>
                    <a:pt x="2517140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1F3864"/>
            </a:solidFill>
            <a:ln w="14299" cap="sq">
              <a:solidFill>
                <a:srgbClr val="4472C4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64409" cy="1521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251647" y="4316778"/>
            <a:ext cx="2073307" cy="1112434"/>
            <a:chOff x="0" y="0"/>
            <a:chExt cx="2764409" cy="14832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64409" cy="1483360"/>
            </a:xfrm>
            <a:custGeom>
              <a:avLst/>
              <a:gdLst/>
              <a:ahLst/>
              <a:cxnLst/>
              <a:rect r="r" b="b" t="t" l="l"/>
              <a:pathLst>
                <a:path h="1483360" w="2764409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2517140" y="0"/>
                  </a:lnTo>
                  <a:cubicBezTo>
                    <a:pt x="2653665" y="0"/>
                    <a:pt x="2764409" y="110744"/>
                    <a:pt x="2764409" y="247269"/>
                  </a:cubicBezTo>
                  <a:lnTo>
                    <a:pt x="2764409" y="1236091"/>
                  </a:lnTo>
                  <a:cubicBezTo>
                    <a:pt x="2764409" y="1372616"/>
                    <a:pt x="2653665" y="1483360"/>
                    <a:pt x="2517140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1F3864"/>
            </a:solidFill>
            <a:ln w="14299" cap="sq">
              <a:solidFill>
                <a:srgbClr val="4472C4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64409" cy="1521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477478" y="4358240"/>
            <a:ext cx="2073307" cy="1112434"/>
            <a:chOff x="0" y="0"/>
            <a:chExt cx="2764409" cy="14832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64409" cy="1483360"/>
            </a:xfrm>
            <a:custGeom>
              <a:avLst/>
              <a:gdLst/>
              <a:ahLst/>
              <a:cxnLst/>
              <a:rect r="r" b="b" t="t" l="l"/>
              <a:pathLst>
                <a:path h="1483360" w="2764409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2517140" y="0"/>
                  </a:lnTo>
                  <a:cubicBezTo>
                    <a:pt x="2653665" y="0"/>
                    <a:pt x="2764409" y="110744"/>
                    <a:pt x="2764409" y="247269"/>
                  </a:cubicBezTo>
                  <a:lnTo>
                    <a:pt x="2764409" y="1236091"/>
                  </a:lnTo>
                  <a:cubicBezTo>
                    <a:pt x="2764409" y="1372616"/>
                    <a:pt x="2653665" y="1483360"/>
                    <a:pt x="2517140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1F3864"/>
            </a:solidFill>
            <a:ln w="14299" cap="sq">
              <a:solidFill>
                <a:srgbClr val="4472C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764409" cy="1521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Quantity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6055117"/>
            <a:ext cx="3240081" cy="2141944"/>
            <a:chOff x="0" y="0"/>
            <a:chExt cx="4320108" cy="28559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20159" cy="2855976"/>
            </a:xfrm>
            <a:custGeom>
              <a:avLst/>
              <a:gdLst/>
              <a:ahLst/>
              <a:cxnLst/>
              <a:rect r="r" b="b" t="t" l="l"/>
              <a:pathLst>
                <a:path h="2855976" w="4320159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3844163" y="0"/>
                  </a:lnTo>
                  <a:cubicBezTo>
                    <a:pt x="4107053" y="0"/>
                    <a:pt x="4320159" y="213106"/>
                    <a:pt x="4320159" y="475996"/>
                  </a:cubicBezTo>
                  <a:lnTo>
                    <a:pt x="4320159" y="2379980"/>
                  </a:lnTo>
                  <a:cubicBezTo>
                    <a:pt x="4320159" y="2642870"/>
                    <a:pt x="4107053" y="2855976"/>
                    <a:pt x="3844163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4F81BD"/>
            </a:solidFill>
            <a:ln w="14299" cap="sq">
              <a:solidFill>
                <a:srgbClr val="4472C4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320108" cy="289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Sales by</a:t>
              </a:r>
            </a:p>
            <a:p>
              <a:pPr algn="l">
                <a:lnSpc>
                  <a:spcPts val="3242"/>
                </a:lnSpc>
              </a:pPr>
              <a:r>
                <a:rPr lang="en-US" sz="270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819561" y="6055117"/>
            <a:ext cx="3308709" cy="2141944"/>
            <a:chOff x="0" y="0"/>
            <a:chExt cx="4411612" cy="28559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11599" cy="2855976"/>
            </a:xfrm>
            <a:custGeom>
              <a:avLst/>
              <a:gdLst/>
              <a:ahLst/>
              <a:cxnLst/>
              <a:rect r="r" b="b" t="t" l="l"/>
              <a:pathLst>
                <a:path h="2855976" w="4411599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3935603" y="0"/>
                  </a:lnTo>
                  <a:cubicBezTo>
                    <a:pt x="4198493" y="0"/>
                    <a:pt x="4411599" y="213106"/>
                    <a:pt x="4411599" y="475996"/>
                  </a:cubicBezTo>
                  <a:lnTo>
                    <a:pt x="4411599" y="2379980"/>
                  </a:lnTo>
                  <a:cubicBezTo>
                    <a:pt x="4411599" y="2642870"/>
                    <a:pt x="4198493" y="2855976"/>
                    <a:pt x="3935603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4F81BD"/>
            </a:solidFill>
            <a:ln w="14299" cap="sq">
              <a:solidFill>
                <a:srgbClr val="4472C4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411612" cy="289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Profit by</a:t>
              </a:r>
            </a:p>
            <a:p>
              <a:pPr algn="l">
                <a:lnSpc>
                  <a:spcPts val="3242"/>
                </a:lnSpc>
              </a:pPr>
              <a:r>
                <a:rPr lang="en-US" sz="270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009782" y="6055117"/>
            <a:ext cx="3240081" cy="2141944"/>
            <a:chOff x="0" y="0"/>
            <a:chExt cx="4320108" cy="28559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20159" cy="2855976"/>
            </a:xfrm>
            <a:custGeom>
              <a:avLst/>
              <a:gdLst/>
              <a:ahLst/>
              <a:cxnLst/>
              <a:rect r="r" b="b" t="t" l="l"/>
              <a:pathLst>
                <a:path h="2855976" w="4320159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3844163" y="0"/>
                  </a:lnTo>
                  <a:cubicBezTo>
                    <a:pt x="4107053" y="0"/>
                    <a:pt x="4320159" y="213106"/>
                    <a:pt x="4320159" y="475996"/>
                  </a:cubicBezTo>
                  <a:lnTo>
                    <a:pt x="4320159" y="2379980"/>
                  </a:lnTo>
                  <a:cubicBezTo>
                    <a:pt x="4320159" y="2642870"/>
                    <a:pt x="4107053" y="2855976"/>
                    <a:pt x="3844163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4F81BD"/>
            </a:solidFill>
            <a:ln w="14299" cap="sq">
              <a:solidFill>
                <a:srgbClr val="4472C4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320108" cy="289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Sales Trend</a:t>
              </a:r>
            </a:p>
            <a:p>
              <a:pPr algn="l">
                <a:lnSpc>
                  <a:spcPts val="3242"/>
                </a:lnSpc>
              </a:pPr>
              <a:r>
                <a:rPr lang="en-US" sz="270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 Year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35688" y="6055117"/>
            <a:ext cx="3308709" cy="2141944"/>
            <a:chOff x="0" y="0"/>
            <a:chExt cx="4411612" cy="28559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11599" cy="2855976"/>
            </a:xfrm>
            <a:custGeom>
              <a:avLst/>
              <a:gdLst/>
              <a:ahLst/>
              <a:cxnLst/>
              <a:rect r="r" b="b" t="t" l="l"/>
              <a:pathLst>
                <a:path h="2855976" w="4411599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3935603" y="0"/>
                  </a:lnTo>
                  <a:cubicBezTo>
                    <a:pt x="4198493" y="0"/>
                    <a:pt x="4411599" y="213106"/>
                    <a:pt x="4411599" y="475996"/>
                  </a:cubicBezTo>
                  <a:lnTo>
                    <a:pt x="4411599" y="2379980"/>
                  </a:lnTo>
                  <a:cubicBezTo>
                    <a:pt x="4411599" y="2642870"/>
                    <a:pt x="4198493" y="2855976"/>
                    <a:pt x="3935603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4F81BD"/>
            </a:solidFill>
            <a:ln w="14299" cap="sq">
              <a:solidFill>
                <a:srgbClr val="4472C4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411612" cy="289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Profit by</a:t>
              </a:r>
            </a:p>
            <a:p>
              <a:pPr algn="l">
                <a:lnSpc>
                  <a:spcPts val="3242"/>
                </a:lnSpc>
              </a:pPr>
              <a:r>
                <a:rPr lang="en-US" sz="270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Category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6151704" y="9694488"/>
            <a:ext cx="118979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828282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0426"/>
            <a:ext cx="16289188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9. Key Business Insights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6842" y="2057105"/>
            <a:ext cx="15602855" cy="709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Technology is the strongest overall category and should remain a key growth focus.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Furniture has high sales but comparatively low profit, suggesting margin pressure.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West is the strongest region; Central requires closer profitability monitoring.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Business performance improved substantially after 2016, with 2018 the strongest year.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Discount has a negative relationship with Profit; discount-heavy transactions should be monitored.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Outliers are present in Sales, Quantity, Discount and Profit and may represent legitimate high-value or loss-making transactions.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51704" y="9694488"/>
            <a:ext cx="118979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828282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40426"/>
            <a:ext cx="16289188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10. Recommendations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6842" y="2047580"/>
            <a:ext cx="15602855" cy="710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Review Furniture pricing, product mix and discount levels to improve margins.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Investigate Central-region transactions to understand why profitability is lower.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Expand and promote successful Technology products while monitoring profitability.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Use profit-based KPIs alongside sales KPIs when evaluating categories and regions.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Set clearer discount controls and monitor the profitability of high-discount orders.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Study the practices behind West-region performance and identify strategies that can be replicated elsewhere.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51704" y="9694488"/>
            <a:ext cx="118979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828282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64116" y="1853165"/>
            <a:ext cx="15328316" cy="125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4"/>
              </a:lnSpc>
            </a:pPr>
            <a:r>
              <a:rPr lang="en-US" sz="51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13185" y="3469834"/>
            <a:ext cx="14230179" cy="341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analysis converts raw Superstore transaction data into actionable business information.</a:t>
            </a:r>
          </a:p>
          <a:p>
            <a:pPr algn="ctr">
              <a:lnSpc>
                <a:spcPts val="3602"/>
              </a:lnSpc>
            </a:pPr>
            <a:r>
              <a:rPr lang="en-US" sz="30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supported cleaning and EDA, while Power BI provided an interactive dashboard for decision-making.</a:t>
            </a:r>
          </a:p>
          <a:p>
            <a:pPr algn="ctr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51704" y="9694488"/>
            <a:ext cx="118979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828282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DAHUy7msHk4</dc:identifier>
  <dcterms:modified xsi:type="dcterms:W3CDTF">2011-08-01T06:04:30Z</dcterms:modified>
  <cp:revision>1</cp:revision>
  <dc:title>Superstore_Sales_Analysis_Presentation.pptx</dc:title>
</cp:coreProperties>
</file>